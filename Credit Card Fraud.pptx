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299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15" r:id="rId21"/>
    <p:sldId id="316" r:id="rId22"/>
    <p:sldId id="317" r:id="rId23"/>
    <p:sldId id="31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10/15/2026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10/15/2026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10/15/2026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10/15/2026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10/15/2026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10/15/2026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73" y="-12683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0620" y="2249423"/>
            <a:ext cx="3487103" cy="1367982"/>
          </a:xfrm>
        </p:spPr>
        <p:txBody>
          <a:bodyPr anchor="b">
            <a:normAutofit fontScale="90000"/>
          </a:bodyPr>
          <a:lstStyle/>
          <a:p>
            <a:r>
              <a:rPr lang="en-IN" sz="3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Credit Card Fraud
Detection</a:t>
            </a:r>
            <a:br>
              <a:rPr lang="en-IN" sz="4400" b="1" dirty="0">
                <a:solidFill>
                  <a:srgbClr val="FFFFFF"/>
                </a:solidFill>
                <a:latin typeface="Aptos"/>
              </a:rPr>
            </a:b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4595" y="4608576"/>
            <a:ext cx="3635925" cy="247271"/>
          </a:xfrm>
        </p:spPr>
        <p:txBody>
          <a:bodyPr anchor="t">
            <a:normAutofit fontScale="47500" lnSpcReduction="20000"/>
          </a:bodyPr>
          <a:lstStyle/>
          <a:p>
            <a:pPr>
              <a:lnSpc>
                <a:spcPct val="100000"/>
              </a:lnSpc>
            </a:pPr>
            <a:r>
              <a:rPr lang="en-IN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DATA  →  SIGNAL  →  MODEL  →  DECISION</a:t>
            </a:r>
          </a:p>
          <a:p>
            <a:pPr>
              <a:lnSpc>
                <a:spcPct val="100000"/>
              </a:lnSpc>
            </a:pPr>
            <a:endParaRPr lang="en-US" sz="1600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92DAD3-BF9D-FB3A-7F3D-71FD41A5C24D}"/>
              </a:ext>
            </a:extLst>
          </p:cNvPr>
          <p:cNvSpPr txBox="1"/>
          <p:nvPr/>
        </p:nvSpPr>
        <p:spPr>
          <a:xfrm>
            <a:off x="7850620" y="1564592"/>
            <a:ext cx="34344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MACHINE</a:t>
            </a:r>
            <a:r>
              <a:rPr lang="en-IN" sz="1400" b="1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</a:rPr>
              <a:t> LEARNING CAPSTONE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6FAD0E-E3DC-E6D1-2328-145BCC19E168}"/>
              </a:ext>
            </a:extLst>
          </p:cNvPr>
          <p:cNvSpPr txBox="1"/>
          <p:nvPr/>
        </p:nvSpPr>
        <p:spPr>
          <a:xfrm>
            <a:off x="7912607" y="3465874"/>
            <a:ext cx="3822192" cy="597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 dirty="0">
                <a:solidFill>
                  <a:schemeClr val="accent1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An end-to-end, evidence-led machine learning workflow</a:t>
            </a:r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0E7B5-A001-291F-43DC-7990D6CB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555" y="442451"/>
            <a:ext cx="10133125" cy="737419"/>
          </a:xfrm>
        </p:spPr>
        <p:txBody>
          <a:bodyPr>
            <a:normAutofit fontScale="90000"/>
          </a:bodyPr>
          <a:lstStyle/>
          <a:p>
            <a:br>
              <a:rPr lang="en-US" sz="4800" b="1" dirty="0">
                <a:solidFill>
                  <a:srgbClr val="0D1B30"/>
                </a:solidFill>
                <a:latin typeface="Aptos"/>
              </a:rPr>
            </a:br>
            <a:r>
              <a:rPr lang="en-US" sz="31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The goal is not just to classify — it is to reduce decision risk</a:t>
            </a:r>
            <a:endParaRPr lang="en-IN" sz="3100" i="1" dirty="0">
              <a:latin typeface="Aptos Narrow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BC59D-7758-B0A9-0E85-6B92576DDFE3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5659609" flipH="1">
            <a:off x="10752482" y="6380515"/>
            <a:ext cx="45719" cy="4571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858D57-F40F-C598-AC2E-286489D3DD27}"/>
              </a:ext>
            </a:extLst>
          </p:cNvPr>
          <p:cNvSpPr txBox="1"/>
          <p:nvPr/>
        </p:nvSpPr>
        <p:spPr>
          <a:xfrm>
            <a:off x="1120877" y="1225047"/>
            <a:ext cx="10894142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1" dirty="0">
                <a:latin typeface="Aptos Narrow" panose="020B0004020202020204" pitchFamily="34" charset="0"/>
              </a:rPr>
              <a:t>A fraud model is a decision-support system with asymmetric error costs.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0195EC-FD25-9973-E293-B64BDA8DC3A8}"/>
              </a:ext>
            </a:extLst>
          </p:cNvPr>
          <p:cNvSpPr/>
          <p:nvPr/>
        </p:nvSpPr>
        <p:spPr>
          <a:xfrm>
            <a:off x="8264016" y="2163095"/>
            <a:ext cx="2546554" cy="10323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F21CFB-CA8D-54B1-DB48-DC0E9A97A6F3}"/>
              </a:ext>
            </a:extLst>
          </p:cNvPr>
          <p:cNvSpPr/>
          <p:nvPr/>
        </p:nvSpPr>
        <p:spPr>
          <a:xfrm>
            <a:off x="1455174" y="2163097"/>
            <a:ext cx="2546555" cy="10323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F29ABE-BECE-DE7D-0F92-8C360ADCD8FB}"/>
              </a:ext>
            </a:extLst>
          </p:cNvPr>
          <p:cNvSpPr/>
          <p:nvPr/>
        </p:nvSpPr>
        <p:spPr>
          <a:xfrm>
            <a:off x="4978071" y="2163095"/>
            <a:ext cx="2546555" cy="10323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A49E8A-947E-0423-9B5A-1978A752A373}"/>
              </a:ext>
            </a:extLst>
          </p:cNvPr>
          <p:cNvSpPr txBox="1"/>
          <p:nvPr/>
        </p:nvSpPr>
        <p:spPr>
          <a:xfrm>
            <a:off x="1696064" y="2422128"/>
            <a:ext cx="2379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F3BF6B-55EF-7D06-DC26-FB6159C46AEE}"/>
              </a:ext>
            </a:extLst>
          </p:cNvPr>
          <p:cNvSpPr txBox="1"/>
          <p:nvPr/>
        </p:nvSpPr>
        <p:spPr>
          <a:xfrm>
            <a:off x="1428132" y="2175163"/>
            <a:ext cx="2379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Catch more fraud</a:t>
            </a:r>
          </a:p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50A91A-A705-5D25-F17E-04914B56901C}"/>
              </a:ext>
            </a:extLst>
          </p:cNvPr>
          <p:cNvSpPr txBox="1"/>
          <p:nvPr/>
        </p:nvSpPr>
        <p:spPr>
          <a:xfrm>
            <a:off x="1381430" y="2574528"/>
            <a:ext cx="24728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Aptos"/>
              </a:rPr>
              <a:t>Prioritize recall while making missed-fraud risk explicit.</a:t>
            </a:r>
          </a:p>
          <a:p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BE15F4-FCA8-1D58-37FB-3FAD5D8F115D}"/>
              </a:ext>
            </a:extLst>
          </p:cNvPr>
          <p:cNvSpPr txBox="1"/>
          <p:nvPr/>
        </p:nvSpPr>
        <p:spPr>
          <a:xfrm>
            <a:off x="4978071" y="2175164"/>
            <a:ext cx="2586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Protect good customers</a:t>
            </a:r>
          </a:p>
          <a:p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E61640-5939-0587-830F-363BD3C3F85C}"/>
              </a:ext>
            </a:extLst>
          </p:cNvPr>
          <p:cNvSpPr txBox="1"/>
          <p:nvPr/>
        </p:nvSpPr>
        <p:spPr>
          <a:xfrm>
            <a:off x="4906297" y="2574528"/>
            <a:ext cx="2546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Control false alarms, declines, and manual-review workload.</a:t>
            </a:r>
            <a:endParaRPr lang="en-IN" sz="1200" b="1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2CCBD6-B7A8-14F7-1E8C-CFE1B9609ABB}"/>
              </a:ext>
            </a:extLst>
          </p:cNvPr>
          <p:cNvSpPr txBox="1"/>
          <p:nvPr/>
        </p:nvSpPr>
        <p:spPr>
          <a:xfrm>
            <a:off x="8249267" y="2175162"/>
            <a:ext cx="2399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Operate reliably</a:t>
            </a:r>
          </a:p>
          <a:p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9CA077-5B83-5C9E-C062-58912D6AD8BF}"/>
              </a:ext>
            </a:extLst>
          </p:cNvPr>
          <p:cNvSpPr txBox="1"/>
          <p:nvPr/>
        </p:nvSpPr>
        <p:spPr>
          <a:xfrm>
            <a:off x="8192242" y="2574528"/>
            <a:ext cx="2571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Aptos"/>
              </a:rPr>
              <a:t>Validate on untouched data and monitor changing behavior.</a:t>
            </a:r>
            <a:endParaRPr lang="en-IN" sz="1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A5A2BF-62D0-852E-6C64-670CD820AF12}"/>
              </a:ext>
            </a:extLst>
          </p:cNvPr>
          <p:cNvSpPr txBox="1"/>
          <p:nvPr/>
        </p:nvSpPr>
        <p:spPr>
          <a:xfrm>
            <a:off x="1428132" y="3883021"/>
            <a:ext cx="5042232" cy="646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Machine-learning objective</a:t>
            </a:r>
          </a:p>
          <a:p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011DFD-934C-7150-D9D4-596C81FE9040}"/>
              </a:ext>
            </a:extLst>
          </p:cNvPr>
          <p:cNvSpPr txBox="1"/>
          <p:nvPr/>
        </p:nvSpPr>
        <p:spPr>
          <a:xfrm>
            <a:off x="1428132" y="4560358"/>
            <a:ext cx="7262843" cy="646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Aptos Narrow" panose="020B0004020202020204" pitchFamily="34" charset="0"/>
              </a:rPr>
              <a:t>Binary classification:  y = 0 legitimate  |  y = 1 fraudulent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6121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22C13D-0D23-212A-4489-5873A0BE7917}"/>
              </a:ext>
            </a:extLst>
          </p:cNvPr>
          <p:cNvSpPr txBox="1"/>
          <p:nvPr/>
        </p:nvSpPr>
        <p:spPr>
          <a:xfrm>
            <a:off x="1420761" y="226515"/>
            <a:ext cx="5481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1" dirty="0">
                <a:latin typeface="Aptos Narrow" panose="020B0004020202020204" pitchFamily="34" charset="0"/>
              </a:rPr>
              <a:t>Flowchart as a snake layout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02A047-92DA-1AC7-9B63-6496AD1C1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156" y="344129"/>
            <a:ext cx="6960358" cy="628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959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04C8B1-E1C1-0727-4881-90D4A3D962E5}"/>
              </a:ext>
            </a:extLst>
          </p:cNvPr>
          <p:cNvSpPr txBox="1"/>
          <p:nvPr/>
        </p:nvSpPr>
        <p:spPr>
          <a:xfrm>
            <a:off x="565355" y="437535"/>
            <a:ext cx="72512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Data quality audit: decisions must follow evidence</a:t>
            </a:r>
          </a:p>
          <a:p>
            <a:endParaRPr lang="en-IN" dirty="0"/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D9FB4F96-37DD-98E7-5AF7-E5F534FF77C0}"/>
              </a:ext>
            </a:extLst>
          </p:cNvPr>
          <p:cNvSpPr/>
          <p:nvPr/>
        </p:nvSpPr>
        <p:spPr>
          <a:xfrm>
            <a:off x="637015" y="1428811"/>
            <a:ext cx="5427406" cy="1124721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800EB060-7085-9DE5-9532-2B18902E7CC4}"/>
              </a:ext>
            </a:extLst>
          </p:cNvPr>
          <p:cNvSpPr/>
          <p:nvPr/>
        </p:nvSpPr>
        <p:spPr>
          <a:xfrm>
            <a:off x="6096000" y="4070525"/>
            <a:ext cx="5427406" cy="1142882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CB8C4BF3-9946-D360-C946-BB352D86FF1F}"/>
              </a:ext>
            </a:extLst>
          </p:cNvPr>
          <p:cNvSpPr/>
          <p:nvPr/>
        </p:nvSpPr>
        <p:spPr>
          <a:xfrm>
            <a:off x="637015" y="4076028"/>
            <a:ext cx="5427406" cy="1124721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97AA5D7C-A2A8-19FE-2C0E-A1BD8ED87ED0}"/>
              </a:ext>
            </a:extLst>
          </p:cNvPr>
          <p:cNvSpPr/>
          <p:nvPr/>
        </p:nvSpPr>
        <p:spPr>
          <a:xfrm>
            <a:off x="653781" y="2745626"/>
            <a:ext cx="5427406" cy="1124721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809272A1-4A69-2FFB-F887-44E92DB2C4FB}"/>
              </a:ext>
            </a:extLst>
          </p:cNvPr>
          <p:cNvSpPr/>
          <p:nvPr/>
        </p:nvSpPr>
        <p:spPr>
          <a:xfrm>
            <a:off x="6110814" y="2739229"/>
            <a:ext cx="5427406" cy="1142882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lowchart: Terminator 15">
            <a:extLst>
              <a:ext uri="{FF2B5EF4-FFF2-40B4-BE49-F238E27FC236}">
                <a16:creationId xmlns:a16="http://schemas.microsoft.com/office/drawing/2014/main" id="{E8BC43F8-EE55-6FE9-6F25-7B7B778CB2A6}"/>
              </a:ext>
            </a:extLst>
          </p:cNvPr>
          <p:cNvSpPr/>
          <p:nvPr/>
        </p:nvSpPr>
        <p:spPr>
          <a:xfrm>
            <a:off x="6096000" y="1414330"/>
            <a:ext cx="5427406" cy="1108614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BB12F6-6449-5E04-A084-0C65119E0CCD}"/>
              </a:ext>
            </a:extLst>
          </p:cNvPr>
          <p:cNvSpPr txBox="1"/>
          <p:nvPr/>
        </p:nvSpPr>
        <p:spPr>
          <a:xfrm>
            <a:off x="924234" y="1561728"/>
            <a:ext cx="454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Missingness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731164-011F-DBAC-AB35-CCAAF9441863}"/>
              </a:ext>
            </a:extLst>
          </p:cNvPr>
          <p:cNvSpPr txBox="1"/>
          <p:nvPr/>
        </p:nvSpPr>
        <p:spPr>
          <a:xfrm>
            <a:off x="924235" y="1931060"/>
            <a:ext cx="4630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>
                <a:solidFill>
                  <a:schemeClr val="accent2">
                    <a:lumMod val="75000"/>
                  </a:schemeClr>
                </a:solidFill>
                <a:latin typeface="Aptos Narrow" panose="020B0004020202020204" pitchFamily="34" charset="0"/>
              </a:rPr>
              <a:t>Per-column count: inspect whether missingness carries signal.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96DA6B-BD44-8042-67D7-458DCCCBBA59}"/>
              </a:ext>
            </a:extLst>
          </p:cNvPr>
          <p:cNvSpPr txBox="1"/>
          <p:nvPr/>
        </p:nvSpPr>
        <p:spPr>
          <a:xfrm>
            <a:off x="6464808" y="1522000"/>
            <a:ext cx="4910328" cy="292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 i="1">
                <a:solidFill>
                  <a:srgbClr val="0D1B30"/>
                </a:solidFill>
                <a:latin typeface="Aptos Narrow" panose="020B0004020202020204" pitchFamily="34" charset="0"/>
              </a:defRPr>
            </a:lvl1pPr>
          </a:lstStyle>
          <a:p>
            <a:r>
              <a:rPr dirty="0"/>
              <a:t>Duplicates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D88E59-5F86-EB80-5B15-B5E05045F89E}"/>
              </a:ext>
            </a:extLst>
          </p:cNvPr>
          <p:cNvSpPr txBox="1"/>
          <p:nvPr/>
        </p:nvSpPr>
        <p:spPr>
          <a:xfrm>
            <a:off x="6558116" y="1891332"/>
            <a:ext cx="4817020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1" dirty="0">
                <a:solidFill>
                  <a:schemeClr val="accent2">
                    <a:lumMod val="75000"/>
                  </a:schemeClr>
                </a:solidFill>
                <a:latin typeface="Aptos Narrow" panose="020B0004020202020204" pitchFamily="34" charset="0"/>
              </a:rPr>
              <a:t>Exact-row</a:t>
            </a:r>
            <a:r>
              <a:rPr sz="1200" b="1" i="0" dirty="0">
                <a:solidFill>
                  <a:schemeClr val="accent2">
                    <a:lumMod val="75000"/>
                  </a:schemeClr>
                </a:solidFill>
                <a:latin typeface="Aptos"/>
              </a:rPr>
              <a:t> </a:t>
            </a:r>
            <a:r>
              <a:rPr sz="1200" b="1" i="1" dirty="0">
                <a:solidFill>
                  <a:schemeClr val="accent2">
                    <a:lumMod val="75000"/>
                  </a:schemeClr>
                </a:solidFill>
                <a:latin typeface="Aptos Narrow" panose="020B0004020202020204" pitchFamily="34" charset="0"/>
              </a:rPr>
              <a:t>duplicates</a:t>
            </a:r>
            <a:r>
              <a:rPr sz="1200" b="1" i="0" dirty="0">
                <a:solidFill>
                  <a:schemeClr val="accent2">
                    <a:lumMod val="75000"/>
                  </a:schemeClr>
                </a:solidFill>
                <a:latin typeface="Aptos"/>
              </a:rPr>
              <a:t> vs repeated transactions</a:t>
            </a:r>
            <a:r>
              <a:rPr lang="en-IN" sz="1200" b="1" i="0" dirty="0">
                <a:solidFill>
                  <a:schemeClr val="accent2">
                    <a:lumMod val="75000"/>
                  </a:schemeClr>
                </a:solidFill>
                <a:latin typeface="Aptos"/>
              </a:rPr>
              <a:t>:</a:t>
            </a:r>
            <a:r>
              <a:rPr sz="1200" b="1" i="0" dirty="0">
                <a:solidFill>
                  <a:schemeClr val="accent2">
                    <a:lumMod val="75000"/>
                  </a:schemeClr>
                </a:solidFill>
                <a:latin typeface="Aptos"/>
              </a:rPr>
              <a:t> investigate before removal</a:t>
            </a:r>
            <a:r>
              <a:rPr sz="1000" b="0" i="0" dirty="0">
                <a:solidFill>
                  <a:srgbClr val="637484"/>
                </a:solidFill>
                <a:latin typeface="Aptos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C50849-CED3-6DC7-41B8-D3C08943C439}"/>
              </a:ext>
            </a:extLst>
          </p:cNvPr>
          <p:cNvSpPr txBox="1"/>
          <p:nvPr/>
        </p:nvSpPr>
        <p:spPr>
          <a:xfrm>
            <a:off x="871038" y="2911491"/>
            <a:ext cx="4910328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Types &amp; ranges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0B717C-8CC2-7CE1-B34F-FB6F61252CA4}"/>
              </a:ext>
            </a:extLst>
          </p:cNvPr>
          <p:cNvSpPr txBox="1"/>
          <p:nvPr/>
        </p:nvSpPr>
        <p:spPr>
          <a:xfrm>
            <a:off x="895555" y="3262356"/>
            <a:ext cx="4856020" cy="4585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US" sz="1200" b="1" i="1" dirty="0">
                <a:solidFill>
                  <a:schemeClr val="accent2">
                    <a:lumMod val="75000"/>
                  </a:schemeClr>
                </a:solidFill>
                <a:latin typeface="Aptos Narrow" panose="020B0004020202020204" pitchFamily="34" charset="0"/>
              </a:rPr>
              <a:t>Validate timestamps, amount units, IDs, flags, and impossible values.</a:t>
            </a:r>
          </a:p>
          <a:p>
            <a:pPr algn="l"/>
            <a:endParaRPr sz="1300" b="1" i="0" dirty="0">
              <a:solidFill>
                <a:srgbClr val="0D1B30"/>
              </a:solidFill>
              <a:latin typeface="Apto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C22A48-C3AE-42A0-562D-3AE9D3CB3E82}"/>
              </a:ext>
            </a:extLst>
          </p:cNvPr>
          <p:cNvSpPr txBox="1"/>
          <p:nvPr/>
        </p:nvSpPr>
        <p:spPr>
          <a:xfrm>
            <a:off x="6553200" y="2846516"/>
            <a:ext cx="4655572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IN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Target I</a:t>
            </a:r>
            <a:r>
              <a:rPr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n</a:t>
            </a:r>
            <a:r>
              <a:rPr lang="en-IN" b="1" i="1" dirty="0" err="1">
                <a:solidFill>
                  <a:srgbClr val="0D1B30"/>
                </a:solidFill>
                <a:latin typeface="Aptos Narrow" panose="020B0004020202020204" pitchFamily="34" charset="0"/>
              </a:rPr>
              <a:t>tegrity</a:t>
            </a:r>
            <a:endParaRPr b="1" i="1" dirty="0">
              <a:solidFill>
                <a:srgbClr val="0D1B30"/>
              </a:solidFill>
              <a:latin typeface="Aptos Narrow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0A778F-2E4A-335D-3E3F-4303BDF7B148}"/>
              </a:ext>
            </a:extLst>
          </p:cNvPr>
          <p:cNvSpPr txBox="1"/>
          <p:nvPr/>
        </p:nvSpPr>
        <p:spPr>
          <a:xfrm>
            <a:off x="6553200" y="3197381"/>
            <a:ext cx="4399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Aptos"/>
              </a:rPr>
              <a:t>Confirm label meaning, class counts, label noise, and label timing</a:t>
            </a:r>
            <a:endParaRPr lang="en-IN" sz="1200" b="1" dirty="0">
              <a:solidFill>
                <a:schemeClr val="accent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DCFEEC-26A5-1ED5-EF80-5F1BA637C831}"/>
              </a:ext>
            </a:extLst>
          </p:cNvPr>
          <p:cNvSpPr txBox="1"/>
          <p:nvPr/>
        </p:nvSpPr>
        <p:spPr>
          <a:xfrm>
            <a:off x="954612" y="4130121"/>
            <a:ext cx="491033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Leakage checks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1D0A3F-D19A-B0AF-7FEA-233AC06518D1}"/>
              </a:ext>
            </a:extLst>
          </p:cNvPr>
          <p:cNvSpPr txBox="1"/>
          <p:nvPr/>
        </p:nvSpPr>
        <p:spPr>
          <a:xfrm>
            <a:off x="924234" y="4460216"/>
            <a:ext cx="43556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>
                <a:solidFill>
                  <a:schemeClr val="accent2">
                    <a:lumMod val="75000"/>
                  </a:schemeClr>
                </a:solidFill>
                <a:latin typeface="Aptos Narrow" panose="020B0004020202020204" pitchFamily="34" charset="0"/>
              </a:rPr>
              <a:t>Remove post-transaction outcomes, chargeback fields, and identifiers that encode labels</a:t>
            </a:r>
            <a:r>
              <a:rPr lang="en-US" dirty="0">
                <a:solidFill>
                  <a:srgbClr val="637484"/>
                </a:solidFill>
                <a:latin typeface="Aptos"/>
              </a:rPr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66F074-8987-AF0B-5C9B-91279A3F4524}"/>
              </a:ext>
            </a:extLst>
          </p:cNvPr>
          <p:cNvSpPr txBox="1"/>
          <p:nvPr/>
        </p:nvSpPr>
        <p:spPr>
          <a:xfrm>
            <a:off x="5638800" y="297425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AA1317-EEE8-18F0-1042-37A3AAEA3EEC}"/>
              </a:ext>
            </a:extLst>
          </p:cNvPr>
          <p:cNvSpPr txBox="1"/>
          <p:nvPr/>
        </p:nvSpPr>
        <p:spPr>
          <a:xfrm>
            <a:off x="6558116" y="4136919"/>
            <a:ext cx="169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Privacy</a:t>
            </a:r>
            <a:r>
              <a:rPr lang="en-IN" b="1" dirty="0">
                <a:solidFill>
                  <a:srgbClr val="0D1B30"/>
                </a:solidFill>
                <a:latin typeface="Aptos"/>
              </a:rPr>
              <a:t> &amp; bias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F24DBF-2258-6A92-A0CB-747818FD82A6}"/>
              </a:ext>
            </a:extLst>
          </p:cNvPr>
          <p:cNvSpPr txBox="1"/>
          <p:nvPr/>
        </p:nvSpPr>
        <p:spPr>
          <a:xfrm>
            <a:off x="6489487" y="4426036"/>
            <a:ext cx="4729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Aptos"/>
              </a:rPr>
              <a:t>Minimize sensitive data; inspect representation and subgroup error rates</a:t>
            </a:r>
            <a:endParaRPr lang="en-US" sz="1200" dirty="0">
              <a:solidFill>
                <a:srgbClr val="637484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366273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B8E447-B7BD-13B7-8107-47295A177B47}"/>
              </a:ext>
            </a:extLst>
          </p:cNvPr>
          <p:cNvSpPr txBox="1"/>
          <p:nvPr/>
        </p:nvSpPr>
        <p:spPr>
          <a:xfrm>
            <a:off x="363794" y="741944"/>
            <a:ext cx="11100619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EDA: three questions before choosing a model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3AABCE0-C616-F799-A7A6-BC20C88B96CE}"/>
              </a:ext>
            </a:extLst>
          </p:cNvPr>
          <p:cNvSpPr/>
          <p:nvPr/>
        </p:nvSpPr>
        <p:spPr>
          <a:xfrm>
            <a:off x="753053" y="2094269"/>
            <a:ext cx="3392130" cy="248756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i="1" dirty="0">
                <a:solidFill>
                  <a:schemeClr val="accent2">
                    <a:lumMod val="75000"/>
                  </a:schemeClr>
                </a:solidFill>
                <a:latin typeface="Aptos Narrow" panose="020B0004020202020204" pitchFamily="34" charset="0"/>
              </a:rPr>
              <a:t>Actual fraud count, legitimate count, and fraud rate. Interpret the baseline and class imbalance.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D54B48-5C33-8441-84D7-BD64605E405A}"/>
              </a:ext>
            </a:extLst>
          </p:cNvPr>
          <p:cNvSpPr/>
          <p:nvPr/>
        </p:nvSpPr>
        <p:spPr>
          <a:xfrm>
            <a:off x="4472890" y="2094268"/>
            <a:ext cx="3298724" cy="248756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i="1" dirty="0">
                <a:solidFill>
                  <a:schemeClr val="accent2">
                    <a:lumMod val="75000"/>
                  </a:schemeClr>
                </a:solidFill>
                <a:latin typeface="Aptos Narrow" panose="020B0004020202020204" pitchFamily="34" charset="0"/>
              </a:rPr>
              <a:t>Compare amount distributions by class; use log scale / robust summaries if skewed</a:t>
            </a:r>
            <a:r>
              <a:rPr lang="en-US" dirty="0">
                <a:solidFill>
                  <a:srgbClr val="637484"/>
                </a:solidFill>
                <a:latin typeface="Aptos"/>
              </a:rPr>
              <a:t>.</a:t>
            </a:r>
          </a:p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4EB3910-DBC3-9E88-2530-498D32A78FF0}"/>
              </a:ext>
            </a:extLst>
          </p:cNvPr>
          <p:cNvSpPr/>
          <p:nvPr/>
        </p:nvSpPr>
        <p:spPr>
          <a:xfrm>
            <a:off x="8078475" y="2094268"/>
            <a:ext cx="3269229" cy="248756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i="1" dirty="0">
                <a:solidFill>
                  <a:schemeClr val="accent2">
                    <a:lumMod val="75000"/>
                  </a:schemeClr>
                </a:solidFill>
                <a:latin typeface="Aptos Narrow" panose="020B0004020202020204" pitchFamily="34" charset="0"/>
              </a:rPr>
              <a:t>Inspect distributions and correlations; describe association, not causation.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C91183-9978-955D-64E1-ED726D2BB2F6}"/>
              </a:ext>
            </a:extLst>
          </p:cNvPr>
          <p:cNvSpPr txBox="1"/>
          <p:nvPr/>
        </p:nvSpPr>
        <p:spPr>
          <a:xfrm>
            <a:off x="823450" y="2310582"/>
            <a:ext cx="315419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defTabSz="457200"/>
            <a:r>
              <a:rPr sz="20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01 · Fraud prevalence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EFAB7E-173B-E362-1E4E-6829FF277B74}"/>
              </a:ext>
            </a:extLst>
          </p:cNvPr>
          <p:cNvSpPr txBox="1"/>
          <p:nvPr/>
        </p:nvSpPr>
        <p:spPr>
          <a:xfrm>
            <a:off x="4581832" y="2310582"/>
            <a:ext cx="308084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02 · Amount behavior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B95E3-34A1-249F-446E-882060DBB0EB}"/>
              </a:ext>
            </a:extLst>
          </p:cNvPr>
          <p:cNvSpPr txBox="1"/>
          <p:nvPr/>
        </p:nvSpPr>
        <p:spPr>
          <a:xfrm>
            <a:off x="8169718" y="2310582"/>
            <a:ext cx="3177986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03 · Feature signal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FFECE9-D01E-2916-A15F-B42BE1D61966}"/>
              </a:ext>
            </a:extLst>
          </p:cNvPr>
          <p:cNvSpPr txBox="1"/>
          <p:nvPr/>
        </p:nvSpPr>
        <p:spPr>
          <a:xfrm>
            <a:off x="589935" y="5270090"/>
            <a:ext cx="10858353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EDA finding template: observation → quantitative evidence → operational implication → limitation.</a:t>
            </a:r>
          </a:p>
        </p:txBody>
      </p:sp>
    </p:spTree>
    <p:extLst>
      <p:ext uri="{BB962C8B-B14F-4D97-AF65-F5344CB8AC3E}">
        <p14:creationId xmlns:p14="http://schemas.microsoft.com/office/powerpoint/2010/main" val="3452835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FDF4D8-80AA-2DA6-4306-DBB73F84FE9B}"/>
              </a:ext>
            </a:extLst>
          </p:cNvPr>
          <p:cNvSpPr txBox="1"/>
          <p:nvPr/>
        </p:nvSpPr>
        <p:spPr>
          <a:xfrm>
            <a:off x="196645" y="206477"/>
            <a:ext cx="5407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Gender Distribution and Default Risk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D918B2-E586-F13B-7453-0750C79D9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45" y="714741"/>
            <a:ext cx="10461523" cy="38504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092766-AFCA-E2F0-BBFE-7410D873E0A5}"/>
              </a:ext>
            </a:extLst>
          </p:cNvPr>
          <p:cNvSpPr txBox="1"/>
          <p:nvPr/>
        </p:nvSpPr>
        <p:spPr>
          <a:xfrm>
            <a:off x="196645" y="4673317"/>
            <a:ext cx="984209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Gender Distribution: Female applicants represent the majority (65.8%), while male applicants account for 34.2%. The XNA category is negligible.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Default Rate by Gender: Male applicants exhibit a higher default rate of 10.1%, compared with 7.0% among female applicants.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Key Insight: Male applicants show a 3.1 percentage-point higher default rate, indicating a potential association between gender and loan repayment </a:t>
            </a:r>
            <a:r>
              <a:rPr lang="en-IN" sz="1400" b="1" i="1" dirty="0" err="1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behavior</a:t>
            </a:r>
            <a:r>
              <a:rPr lang="en-IN" sz="1400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Business Implication: Gender may be useful as an exploratory feature in credit risk analysis, but its predictive value should be validated statistically and assessed for fairness before model deployment</a:t>
            </a:r>
            <a:r>
              <a:rPr lang="en-IN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0231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5F553D-4A7D-6802-FFD0-811378FAC85B}"/>
              </a:ext>
            </a:extLst>
          </p:cNvPr>
          <p:cNvSpPr txBox="1"/>
          <p:nvPr/>
        </p:nvSpPr>
        <p:spPr>
          <a:xfrm>
            <a:off x="176982" y="206477"/>
            <a:ext cx="87113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Target Distribution and Income vs. Credit Amount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8A8A66-D0CF-9A6E-2103-9C6733B65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2" y="606587"/>
            <a:ext cx="9556955" cy="37609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AD4B3C-6F10-B819-A727-A17F9FAAA876}"/>
              </a:ext>
            </a:extLst>
          </p:cNvPr>
          <p:cNvSpPr txBox="1"/>
          <p:nvPr/>
        </p:nvSpPr>
        <p:spPr>
          <a:xfrm rot="10800000" flipV="1">
            <a:off x="329381" y="4523995"/>
            <a:ext cx="925215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Target Distribution: The dataset exhibits a significant class imbalance, with non-defaulters (TARGET = 0) substantially outnumbering defaulters (TARGET = 1).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Income vs. Credit Amount: Applicants with higher total income generally tend to have access to larger credit amounts, although the relationship shows considerable variability.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Default Patterns: Defaulters and non-defaulters overlap extensively across income and credit ranges, indicating that these two variables alone may not reliably distinguish default risk.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Outlier Detection: A small number of applicants exhibit exceptionally high income or credit values, warranting further investigation during data preprocessing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2553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C2B8A6-B5D8-96A2-E6A0-E6701A1C2F0D}"/>
              </a:ext>
            </a:extLst>
          </p:cNvPr>
          <p:cNvSpPr txBox="1"/>
          <p:nvPr/>
        </p:nvSpPr>
        <p:spPr>
          <a:xfrm>
            <a:off x="226142" y="324465"/>
            <a:ext cx="9330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 i="1">
                <a:solidFill>
                  <a:srgbClr val="0D1B30"/>
                </a:solidFill>
                <a:latin typeface="Aptos Narrow" panose="020B0004020202020204" pitchFamily="34" charset="0"/>
              </a:defRPr>
            </a:lvl1pPr>
          </a:lstStyle>
          <a:p>
            <a:r>
              <a:rPr lang="en-IN" dirty="0"/>
              <a:t>Top 40 Feature Importance Analysis — Baseline Random Forest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534257-EC3A-161B-5E17-D7EDD776F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42" y="724575"/>
            <a:ext cx="10356979" cy="564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810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AD0CCDD8-12F7-5601-7197-3B8FE479549E}"/>
              </a:ext>
            </a:extLst>
          </p:cNvPr>
          <p:cNvSpPr/>
          <p:nvPr/>
        </p:nvSpPr>
        <p:spPr>
          <a:xfrm>
            <a:off x="796413" y="1052052"/>
            <a:ext cx="10599174" cy="4689986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Top Predictive Features: DAYS_BIRTH, DAYS_EMPLOYED, and DAYS_LAST_PHONE_CHANGE are the most influential features in the baseline Random Forest model.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Financial Indicators: AMT_GOODS_PRICE, AMT_CREDIT, AMT_ANNUITY, and AMT_INCOME_TOTAL contribute substantially to the model's predictions.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Applicant Profile: Education type, gender, family status, housing type, and regional characteristics also contribute to predictive performance.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Lower-Ranked Features: Several binary indicators, including document flags and mobile contact status, have relatively low importance scores.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Key ML Insight: The model relies on a combination of demographic, employment, financial, and </a:t>
            </a:r>
            <a:r>
              <a:rPr lang="en-IN" b="1" i="1" dirty="0" err="1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behavioral</a:t>
            </a:r>
            <a:r>
              <a:rPr lang="en-IN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 features to predict loan default.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Takeaway: Applicant age and employment-related information dominate the baseline model's feature importance rankings, while financial variables provide additional predictive signals.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270325-E04E-C4FF-66B2-1B61710AA240}"/>
              </a:ext>
            </a:extLst>
          </p:cNvPr>
          <p:cNvSpPr txBox="1"/>
          <p:nvPr/>
        </p:nvSpPr>
        <p:spPr>
          <a:xfrm>
            <a:off x="1219200" y="393290"/>
            <a:ext cx="8613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 i="1">
                <a:solidFill>
                  <a:srgbClr val="0D1B30"/>
                </a:solidFill>
                <a:latin typeface="Aptos Narrow" panose="020B0004020202020204" pitchFamily="34" charset="0"/>
              </a:defRPr>
            </a:lvl1pPr>
          </a:lstStyle>
          <a:p>
            <a:r>
              <a:rPr lang="en-IN" dirty="0"/>
              <a:t>Top 40 Feature Importance Analysis</a:t>
            </a:r>
          </a:p>
        </p:txBody>
      </p:sp>
    </p:spTree>
    <p:extLst>
      <p:ext uri="{BB962C8B-B14F-4D97-AF65-F5344CB8AC3E}">
        <p14:creationId xmlns:p14="http://schemas.microsoft.com/office/powerpoint/2010/main" val="113673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AEC0A7-392D-3AF8-1C55-2ED0F5793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8" y="1"/>
            <a:ext cx="10766321" cy="639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2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5AA7F857-6DAD-F211-B2B7-8C0EE19E6F8E}"/>
              </a:ext>
            </a:extLst>
          </p:cNvPr>
          <p:cNvSpPr/>
          <p:nvPr/>
        </p:nvSpPr>
        <p:spPr>
          <a:xfrm>
            <a:off x="639097" y="924233"/>
            <a:ext cx="10599174" cy="4689986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Strong Financial Correlation: AMT_CREDIT and AMT_ANNUITY exhibit a strong positive correlation, indicating that larger credit amounts tend to be associated with higher loan repayment obligations.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Demographic Relationships: CNT_CHILDREN and CNT_FAM_MEMBERS show a strong positive correlation, reflecting the relationship between the number of children and household size.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Employment and Age: DAYS_BIRTH and DAYS_EMPLOYED show a notable relationship, suggesting that applicant age and employment history are associated.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Regional Feature Correlations: Several regional indicators demonstrate moderate to strong correlations, potentially reflecting overlapping geographic information.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Target Variable: TARGET shows mostly weak linear correlations with individual numerical features, suggesting that loan default prediction may require combining multiple features and capturing nonlinear relationships.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Multicollinearity Check: Strongly correlated predictors should be examined before model development, particularly when using models sensitive to multicollinearity</a:t>
            </a:r>
            <a:r>
              <a:rPr lang="en-I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0004E2-268C-74B3-906D-A23D1CE3B5C5}"/>
              </a:ext>
            </a:extLst>
          </p:cNvPr>
          <p:cNvSpPr txBox="1"/>
          <p:nvPr/>
        </p:nvSpPr>
        <p:spPr>
          <a:xfrm>
            <a:off x="1219200" y="393290"/>
            <a:ext cx="8613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 i="1">
                <a:solidFill>
                  <a:srgbClr val="0D1B30"/>
                </a:solidFill>
                <a:latin typeface="Aptos Narrow" panose="020B0004020202020204" pitchFamily="34" charset="0"/>
              </a:defRPr>
            </a:lvl1pPr>
          </a:lstStyle>
          <a:p>
            <a:r>
              <a:rPr lang="en-IN" dirty="0"/>
              <a:t>Correlation Analysis of Selected Numerical Features</a:t>
            </a:r>
          </a:p>
        </p:txBody>
      </p:sp>
    </p:spTree>
    <p:extLst>
      <p:ext uri="{BB962C8B-B14F-4D97-AF65-F5344CB8AC3E}">
        <p14:creationId xmlns:p14="http://schemas.microsoft.com/office/powerpoint/2010/main" val="3442353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0AFDBF-4BF2-F78A-89B0-FED8437D2D4D}"/>
              </a:ext>
            </a:extLst>
          </p:cNvPr>
          <p:cNvSpPr txBox="1"/>
          <p:nvPr/>
        </p:nvSpPr>
        <p:spPr>
          <a:xfrm>
            <a:off x="403123" y="566928"/>
            <a:ext cx="11164037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 i="0" dirty="0">
                <a:solidFill>
                  <a:srgbClr val="0D1B30"/>
                </a:solidFill>
                <a:latin typeface="Aptos Narrow" panose="020B0004020202020204" pitchFamily="34" charset="0"/>
              </a:rPr>
              <a:t>Visualization plan: each chart answers one decision question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392C3-0E7D-1FC3-1931-0790B7385727}"/>
              </a:ext>
            </a:extLst>
          </p:cNvPr>
          <p:cNvSpPr txBox="1"/>
          <p:nvPr/>
        </p:nvSpPr>
        <p:spPr>
          <a:xfrm>
            <a:off x="403123" y="1150374"/>
            <a:ext cx="11100029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1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Keep axes, class labels, units, and interpretation visible</a:t>
            </a:r>
            <a:r>
              <a:rPr sz="1100" b="1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7931B2-F142-C0D9-05C9-072A77200271}"/>
              </a:ext>
            </a:extLst>
          </p:cNvPr>
          <p:cNvSpPr/>
          <p:nvPr/>
        </p:nvSpPr>
        <p:spPr>
          <a:xfrm>
            <a:off x="636639" y="1856919"/>
            <a:ext cx="5212080" cy="142384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0BE4DF-FD3C-66FF-3B64-ED56A3FA8B43}"/>
              </a:ext>
            </a:extLst>
          </p:cNvPr>
          <p:cNvSpPr txBox="1"/>
          <p:nvPr/>
        </p:nvSpPr>
        <p:spPr>
          <a:xfrm>
            <a:off x="739484" y="1992016"/>
            <a:ext cx="210312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 dirty="0">
                <a:solidFill>
                  <a:srgbClr val="0D1B30"/>
                </a:solidFill>
                <a:latin typeface="Aptos Narrow" panose="020B0004020202020204" pitchFamily="34" charset="0"/>
              </a:rPr>
              <a:t>Class </a:t>
            </a:r>
            <a:r>
              <a:rPr lang="en-IN" sz="2000" b="1" i="0" dirty="0">
                <a:solidFill>
                  <a:srgbClr val="0D1B30"/>
                </a:solidFill>
                <a:latin typeface="Aptos Narrow" panose="020B0004020202020204" pitchFamily="34" charset="0"/>
              </a:rPr>
              <a:t>B</a:t>
            </a:r>
            <a:r>
              <a:rPr sz="2000" b="1" i="0" dirty="0" err="1">
                <a:solidFill>
                  <a:srgbClr val="0D1B30"/>
                </a:solidFill>
                <a:latin typeface="Aptos Narrow" panose="020B0004020202020204" pitchFamily="34" charset="0"/>
              </a:rPr>
              <a:t>alance</a:t>
            </a:r>
            <a:r>
              <a:rPr lang="en-IN" sz="2000" b="1" i="0" dirty="0">
                <a:solidFill>
                  <a:srgbClr val="0D1B30"/>
                </a:solidFill>
                <a:latin typeface="Aptos Narrow" panose="020B0004020202020204" pitchFamily="34" charset="0"/>
              </a:rPr>
              <a:t>.</a:t>
            </a:r>
            <a:endParaRPr sz="2000" b="1" i="0" dirty="0">
              <a:solidFill>
                <a:srgbClr val="0D1B30"/>
              </a:solidFill>
              <a:latin typeface="Aptos Narrow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BC3808-7903-6008-2619-F705B2AFA6B4}"/>
              </a:ext>
            </a:extLst>
          </p:cNvPr>
          <p:cNvSpPr txBox="1"/>
          <p:nvPr/>
        </p:nvSpPr>
        <p:spPr>
          <a:xfrm>
            <a:off x="739484" y="2373659"/>
            <a:ext cx="5245657" cy="29877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How</a:t>
            </a:r>
            <a:r>
              <a:rPr sz="1400" b="1" i="0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 rare is fraud?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E997B4-B570-94E8-2B82-AB383D17837F}"/>
              </a:ext>
            </a:extLst>
          </p:cNvPr>
          <p:cNvSpPr txBox="1"/>
          <p:nvPr/>
        </p:nvSpPr>
        <p:spPr>
          <a:xfrm>
            <a:off x="739484" y="2672432"/>
            <a:ext cx="4810924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Counts + %; actual dataset</a:t>
            </a:r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728AD74E-275E-BA39-ADAD-D5D599B552E5}"/>
              </a:ext>
            </a:extLst>
          </p:cNvPr>
          <p:cNvSpPr/>
          <p:nvPr/>
        </p:nvSpPr>
        <p:spPr>
          <a:xfrm>
            <a:off x="636640" y="3426388"/>
            <a:ext cx="5212080" cy="142384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B61FC9-7F96-F9A6-73B9-3AF2244ECDFA}"/>
              </a:ext>
            </a:extLst>
          </p:cNvPr>
          <p:cNvSpPr txBox="1"/>
          <p:nvPr/>
        </p:nvSpPr>
        <p:spPr>
          <a:xfrm rot="10800000" flipV="1">
            <a:off x="739483" y="3591793"/>
            <a:ext cx="2711639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dirty="0">
                <a:solidFill>
                  <a:srgbClr val="0D1B30"/>
                </a:solidFill>
                <a:latin typeface="Aptos Narrow" panose="020B0004020202020204" pitchFamily="34" charset="0"/>
              </a:rPr>
              <a:t>Correlation </a:t>
            </a:r>
            <a:r>
              <a:rPr lang="en-IN" sz="2000" b="1" dirty="0">
                <a:solidFill>
                  <a:srgbClr val="0D1B30"/>
                </a:solidFill>
                <a:latin typeface="Aptos Narrow" panose="020B0004020202020204" pitchFamily="34" charset="0"/>
              </a:rPr>
              <a:t>H</a:t>
            </a:r>
            <a:r>
              <a:rPr sz="2000" b="1" dirty="0" err="1">
                <a:solidFill>
                  <a:srgbClr val="0D1B30"/>
                </a:solidFill>
                <a:latin typeface="Aptos Narrow" panose="020B0004020202020204" pitchFamily="34" charset="0"/>
              </a:rPr>
              <a:t>eatmap</a:t>
            </a:r>
            <a:r>
              <a:rPr lang="en-IN" sz="2000" b="1" dirty="0">
                <a:solidFill>
                  <a:srgbClr val="0D1B30"/>
                </a:solidFill>
                <a:latin typeface="Aptos Narrow" panose="020B0004020202020204" pitchFamily="34" charset="0"/>
              </a:rPr>
              <a:t>.</a:t>
            </a:r>
            <a:endParaRPr sz="2000" b="1" dirty="0">
              <a:solidFill>
                <a:srgbClr val="0D1B30"/>
              </a:solidFill>
              <a:latin typeface="Aptos Narrow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BB1D37-3232-715F-7AB7-276409261464}"/>
              </a:ext>
            </a:extLst>
          </p:cNvPr>
          <p:cNvSpPr txBox="1"/>
          <p:nvPr/>
        </p:nvSpPr>
        <p:spPr>
          <a:xfrm rot="10800000" flipV="1">
            <a:off x="739483" y="3996084"/>
            <a:ext cx="6802939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Which numeric signals co-vary?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BF023F-05E5-73D8-2EBF-C8C8E5A2AD4C}"/>
              </a:ext>
            </a:extLst>
          </p:cNvPr>
          <p:cNvSpPr txBox="1"/>
          <p:nvPr/>
        </p:nvSpPr>
        <p:spPr>
          <a:xfrm>
            <a:off x="739482" y="4362671"/>
            <a:ext cx="466344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>
            <a:defPPr>
              <a:defRPr lang="en-US"/>
            </a:defPPr>
            <a:lvl1pPr>
              <a:defRPr sz="1400" b="1" i="0">
                <a:solidFill>
                  <a:schemeClr val="accent1">
                    <a:lumMod val="50000"/>
                  </a:schemeClr>
                </a:solidFill>
                <a:latin typeface="Aptos"/>
              </a:defRPr>
            </a:lvl1pPr>
          </a:lstStyle>
          <a:p>
            <a:r>
              <a:rPr dirty="0"/>
              <a:t>Numeric features only</a:t>
            </a:r>
          </a:p>
        </p:txBody>
      </p:sp>
      <p:sp>
        <p:nvSpPr>
          <p:cNvPr id="23" name="Rounded Rectangle 14">
            <a:extLst>
              <a:ext uri="{FF2B5EF4-FFF2-40B4-BE49-F238E27FC236}">
                <a16:creationId xmlns:a16="http://schemas.microsoft.com/office/drawing/2014/main" id="{2E11EFD4-D53D-F24D-FF62-D5DB5EB62AB0}"/>
              </a:ext>
            </a:extLst>
          </p:cNvPr>
          <p:cNvSpPr/>
          <p:nvPr/>
        </p:nvSpPr>
        <p:spPr>
          <a:xfrm>
            <a:off x="636639" y="4971003"/>
            <a:ext cx="5212080" cy="13599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060DCB-813D-E9E2-C849-6B4C4F2097DD}"/>
              </a:ext>
            </a:extLst>
          </p:cNvPr>
          <p:cNvSpPr txBox="1"/>
          <p:nvPr/>
        </p:nvSpPr>
        <p:spPr>
          <a:xfrm>
            <a:off x="739483" y="5130074"/>
            <a:ext cx="2632981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dirty="0">
                <a:solidFill>
                  <a:srgbClr val="0D1B30"/>
                </a:solidFill>
                <a:latin typeface="Aptos Narrow" panose="020B0004020202020204" pitchFamily="34" charset="0"/>
              </a:rPr>
              <a:t>Feature </a:t>
            </a:r>
            <a:r>
              <a:rPr lang="en-IN" sz="2000" b="1" dirty="0">
                <a:solidFill>
                  <a:srgbClr val="0D1B30"/>
                </a:solidFill>
                <a:latin typeface="Aptos Narrow" panose="020B0004020202020204" pitchFamily="34" charset="0"/>
              </a:rPr>
              <a:t>D</a:t>
            </a:r>
            <a:r>
              <a:rPr sz="2000" b="1" dirty="0" err="1">
                <a:solidFill>
                  <a:srgbClr val="0D1B30"/>
                </a:solidFill>
                <a:latin typeface="Aptos Narrow" panose="020B0004020202020204" pitchFamily="34" charset="0"/>
              </a:rPr>
              <a:t>istributions</a:t>
            </a:r>
            <a:r>
              <a:rPr lang="en-IN" sz="2000" b="1" dirty="0">
                <a:solidFill>
                  <a:srgbClr val="0D1B30"/>
                </a:solidFill>
                <a:latin typeface="Aptos Narrow" panose="020B0004020202020204" pitchFamily="34" charset="0"/>
              </a:rPr>
              <a:t>.</a:t>
            </a:r>
            <a:endParaRPr sz="2000" b="1" dirty="0">
              <a:solidFill>
                <a:srgbClr val="0D1B30"/>
              </a:solidFill>
              <a:latin typeface="Aptos Narrow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64EB26-8552-0FA6-FA72-0057AE057F73}"/>
              </a:ext>
            </a:extLst>
          </p:cNvPr>
          <p:cNvSpPr txBox="1"/>
          <p:nvPr/>
        </p:nvSpPr>
        <p:spPr>
          <a:xfrm>
            <a:off x="753642" y="5592171"/>
            <a:ext cx="26974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Which features differ?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89839E-03CE-8AFC-572C-631CEA994F24}"/>
              </a:ext>
            </a:extLst>
          </p:cNvPr>
          <p:cNvSpPr txBox="1"/>
          <p:nvPr/>
        </p:nvSpPr>
        <p:spPr>
          <a:xfrm>
            <a:off x="739482" y="5960465"/>
            <a:ext cx="466344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Split by target class</a:t>
            </a:r>
          </a:p>
        </p:txBody>
      </p:sp>
    </p:spTree>
    <p:extLst>
      <p:ext uri="{BB962C8B-B14F-4D97-AF65-F5344CB8AC3E}">
        <p14:creationId xmlns:p14="http://schemas.microsoft.com/office/powerpoint/2010/main" val="3757173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D1E15E-8B16-4007-ABC4-94AA7FF2E1B2}"/>
              </a:ext>
            </a:extLst>
          </p:cNvPr>
          <p:cNvSpPr txBox="1"/>
          <p:nvPr/>
        </p:nvSpPr>
        <p:spPr>
          <a:xfrm>
            <a:off x="247282" y="370283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 i="0" dirty="0">
                <a:solidFill>
                  <a:srgbClr val="0D1B30"/>
                </a:solidFill>
                <a:latin typeface="Aptos"/>
              </a:rPr>
              <a:t>Class imbalance: the majority class can hide failure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2BA7E6-80DA-C764-DD44-B303052D5159}"/>
              </a:ext>
            </a:extLst>
          </p:cNvPr>
          <p:cNvSpPr txBox="1"/>
          <p:nvPr/>
        </p:nvSpPr>
        <p:spPr>
          <a:xfrm>
            <a:off x="293002" y="792480"/>
            <a:ext cx="10972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Only label the problem 'highly imbalanced' after calculating the target distribution.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9A24D03-AA54-0B9D-CD5C-46C0917A2EE0}"/>
              </a:ext>
            </a:extLst>
          </p:cNvPr>
          <p:cNvSpPr/>
          <p:nvPr/>
        </p:nvSpPr>
        <p:spPr>
          <a:xfrm>
            <a:off x="658368" y="1847088"/>
            <a:ext cx="3493008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1E0A8DD8-159C-4FFE-3F54-BF4A871E0294}"/>
              </a:ext>
            </a:extLst>
          </p:cNvPr>
          <p:cNvSpPr/>
          <p:nvPr/>
        </p:nvSpPr>
        <p:spPr>
          <a:xfrm>
            <a:off x="8420935" y="1833666"/>
            <a:ext cx="3493008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Resampling only on training folds. Keep validation and test prevalence natural.</a:t>
            </a: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DAC7698B-454B-BA22-1A6C-0DFB1DF5778B}"/>
              </a:ext>
            </a:extLst>
          </p:cNvPr>
          <p:cNvSpPr/>
          <p:nvPr/>
        </p:nvSpPr>
        <p:spPr>
          <a:xfrm>
            <a:off x="4539651" y="1840599"/>
            <a:ext cx="3493008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Class weights, random sampling, SMOTE, threshold adjustment; compare empirically</a:t>
            </a:r>
            <a:r>
              <a:rPr lang="en-US" dirty="0">
                <a:solidFill>
                  <a:srgbClr val="637484"/>
                </a:solidFill>
                <a:latin typeface="Aptos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CA0792-F006-F176-F248-74D0ECDCF45A}"/>
              </a:ext>
            </a:extLst>
          </p:cNvPr>
          <p:cNvSpPr txBox="1"/>
          <p:nvPr/>
        </p:nvSpPr>
        <p:spPr>
          <a:xfrm>
            <a:off x="841247" y="1993392"/>
            <a:ext cx="3145536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 dirty="0">
                <a:solidFill>
                  <a:srgbClr val="0D1B30"/>
                </a:solidFill>
                <a:latin typeface="Aptos Narrow" panose="020B0004020202020204" pitchFamily="34" charset="0"/>
              </a:rPr>
              <a:t>Why accuracy can mislead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AC5136-00A2-3DC5-5744-60CD21797E5D}"/>
              </a:ext>
            </a:extLst>
          </p:cNvPr>
          <p:cNvSpPr txBox="1"/>
          <p:nvPr/>
        </p:nvSpPr>
        <p:spPr>
          <a:xfrm>
            <a:off x="4667568" y="1993392"/>
            <a:ext cx="3145536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0D1B30"/>
                </a:solidFill>
                <a:latin typeface="Aptos Narrow" panose="020B0004020202020204" pitchFamily="34" charset="0"/>
              </a:rPr>
              <a:t>Candidate</a:t>
            </a:r>
            <a:r>
              <a:rPr sz="1400" b="1" i="0" dirty="0">
                <a:solidFill>
                  <a:srgbClr val="0D1B30"/>
                </a:solidFill>
                <a:latin typeface="Aptos"/>
              </a:rPr>
              <a:t> strategies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23BD9E-0225-76F7-62CE-DAC9746ED44D}"/>
              </a:ext>
            </a:extLst>
          </p:cNvPr>
          <p:cNvSpPr txBox="1"/>
          <p:nvPr/>
        </p:nvSpPr>
        <p:spPr>
          <a:xfrm>
            <a:off x="8594671" y="1963861"/>
            <a:ext cx="3145536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>
            <a:defPPr>
              <a:defRPr lang="en-US"/>
            </a:defPPr>
            <a:lvl1pPr>
              <a:defRPr sz="1600" b="1">
                <a:solidFill>
                  <a:srgbClr val="0D1B30"/>
                </a:solidFill>
                <a:latin typeface="Aptos Narrow" panose="020B0004020202020204" pitchFamily="34" charset="0"/>
              </a:defRPr>
            </a:lvl1pPr>
          </a:lstStyle>
          <a:p>
            <a:r>
              <a:rPr dirty="0"/>
              <a:t>Leakage rule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B1A7E8-6576-EA02-2C26-62B53258CDD6}"/>
              </a:ext>
            </a:extLst>
          </p:cNvPr>
          <p:cNvSpPr txBox="1"/>
          <p:nvPr/>
        </p:nvSpPr>
        <p:spPr>
          <a:xfrm>
            <a:off x="841247" y="2359152"/>
            <a:ext cx="3145536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A model predicting every transaction as legitimate can score highly when fraud is rare.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180A19-0389-7B36-1422-B7F06D03DC5F}"/>
              </a:ext>
            </a:extLst>
          </p:cNvPr>
          <p:cNvSpPr txBox="1"/>
          <p:nvPr/>
        </p:nvSpPr>
        <p:spPr>
          <a:xfrm>
            <a:off x="658368" y="4231321"/>
            <a:ext cx="4254812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 dirty="0">
                <a:solidFill>
                  <a:srgbClr val="0D1B30"/>
                </a:solidFill>
                <a:latin typeface="Aptos"/>
              </a:rPr>
              <a:t>Recommended comparison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AFCB58-5E03-7E88-2D24-225D99AFAA1E}"/>
              </a:ext>
            </a:extLst>
          </p:cNvPr>
          <p:cNvSpPr txBox="1"/>
          <p:nvPr/>
        </p:nvSpPr>
        <p:spPr>
          <a:xfrm>
            <a:off x="658368" y="4612964"/>
            <a:ext cx="588185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Aft>
                <a:spcPts val="600"/>
              </a:spcAft>
              <a:buFont typeface="+mj-lt"/>
              <a:buAutoNum type="arabicPeriod"/>
              <a:defRPr sz="1200">
                <a:solidFill>
                  <a:srgbClr val="1F3041"/>
                </a:solidFill>
                <a:latin typeface="Aptos"/>
              </a:defRPr>
            </a:pPr>
            <a:r>
              <a:rPr lang="en-US" b="1" dirty="0"/>
              <a:t>  </a:t>
            </a:r>
            <a:r>
              <a:rPr lang="en-US" sz="1600" b="1" dirty="0">
                <a:solidFill>
                  <a:srgbClr val="0D1B30"/>
                </a:solidFill>
                <a:latin typeface="Aptos Narrow" panose="020B0004020202020204" pitchFamily="34" charset="0"/>
              </a:rPr>
              <a:t>Baseline with no resampling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 sz="1200">
                <a:solidFill>
                  <a:srgbClr val="1F3041"/>
                </a:solidFill>
                <a:latin typeface="Aptos"/>
              </a:defRPr>
            </a:pPr>
            <a:r>
              <a:rPr lang="en-US" sz="1600" b="1" dirty="0">
                <a:solidFill>
                  <a:srgbClr val="0D1B30"/>
                </a:solidFill>
                <a:latin typeface="Aptos Narrow" panose="020B0004020202020204" pitchFamily="34" charset="0"/>
              </a:rPr>
              <a:t>  Class-weighted model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 sz="1200">
                <a:solidFill>
                  <a:srgbClr val="1F3041"/>
                </a:solidFill>
                <a:latin typeface="Aptos"/>
              </a:defRPr>
            </a:pPr>
            <a:r>
              <a:rPr lang="en-US" sz="1600" b="1" dirty="0">
                <a:solidFill>
                  <a:srgbClr val="0D1B30"/>
                </a:solidFill>
                <a:latin typeface="Aptos Narrow" panose="020B0004020202020204" pitchFamily="34" charset="0"/>
              </a:rPr>
              <a:t>  Training-only resampling in a pipeline, if justified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 sz="1200">
                <a:solidFill>
                  <a:srgbClr val="1F3041"/>
                </a:solidFill>
                <a:latin typeface="Aptos"/>
              </a:defRPr>
            </a:pPr>
            <a:r>
              <a:rPr lang="en-US" sz="1600" b="1" dirty="0">
                <a:solidFill>
                  <a:srgbClr val="0D1B30"/>
                </a:solidFill>
                <a:latin typeface="Aptos Narrow" panose="020B0004020202020204" pitchFamily="34" charset="0"/>
              </a:rPr>
              <a:t> Thresholds selected on validation data against business costs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 sz="1200">
                <a:solidFill>
                  <a:srgbClr val="1F3041"/>
                </a:solidFill>
                <a:latin typeface="Aptos"/>
              </a:defRPr>
            </a:pPr>
            <a:r>
              <a:rPr lang="en-US" sz="1600" b="1" dirty="0">
                <a:solidFill>
                  <a:srgbClr val="0D1B30"/>
                </a:solidFill>
                <a:latin typeface="Aptos Narrow" panose="020B0004020202020204" pitchFamily="34" charset="0"/>
              </a:rPr>
              <a:t>Using simple imputer</a:t>
            </a:r>
          </a:p>
        </p:txBody>
      </p:sp>
    </p:spTree>
    <p:extLst>
      <p:ext uri="{BB962C8B-B14F-4D97-AF65-F5344CB8AC3E}">
        <p14:creationId xmlns:p14="http://schemas.microsoft.com/office/powerpoint/2010/main" val="3994849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B9B711-468A-1B50-5223-AB9A7E8482A6}"/>
              </a:ext>
            </a:extLst>
          </p:cNvPr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 i="0" dirty="0">
                <a:solidFill>
                  <a:srgbClr val="0D1B30"/>
                </a:solidFill>
                <a:latin typeface="Aptos"/>
              </a:rPr>
              <a:t>Metrics that reflect the cost of fraud decisions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1A78E8-05FA-BA97-98A0-F533D26D02B9}"/>
              </a:ext>
            </a:extLst>
          </p:cNvPr>
          <p:cNvSpPr txBox="1"/>
          <p:nvPr/>
        </p:nvSpPr>
        <p:spPr>
          <a:xfrm>
            <a:off x="548640" y="1069848"/>
            <a:ext cx="10972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1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Use fraud = positive class; report threshold-dependent and threshold-independent metrics</a:t>
            </a:r>
            <a:r>
              <a:rPr sz="1100" b="0" i="0" dirty="0">
                <a:solidFill>
                  <a:srgbClr val="637484"/>
                </a:solidFill>
                <a:latin typeface="Aptos"/>
              </a:rPr>
              <a:t>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B9404F1-F710-C74B-0F93-C8E9CE8F3F91}"/>
              </a:ext>
            </a:extLst>
          </p:cNvPr>
          <p:cNvSpPr/>
          <p:nvPr/>
        </p:nvSpPr>
        <p:spPr>
          <a:xfrm>
            <a:off x="548640" y="1572768"/>
            <a:ext cx="3456432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1149A8AC-A63E-97F6-FB0E-19159C1CE868}"/>
              </a:ext>
            </a:extLst>
          </p:cNvPr>
          <p:cNvSpPr/>
          <p:nvPr/>
        </p:nvSpPr>
        <p:spPr>
          <a:xfrm>
            <a:off x="548640" y="4992624"/>
            <a:ext cx="3456432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2DE9012D-DABA-55FC-97D9-22F5397CDD1B}"/>
              </a:ext>
            </a:extLst>
          </p:cNvPr>
          <p:cNvSpPr/>
          <p:nvPr/>
        </p:nvSpPr>
        <p:spPr>
          <a:xfrm>
            <a:off x="6892020" y="4992624"/>
            <a:ext cx="3456432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B0982A82-88F6-6AFC-2A5A-E1E6E7AE2B9D}"/>
              </a:ext>
            </a:extLst>
          </p:cNvPr>
          <p:cNvSpPr/>
          <p:nvPr/>
        </p:nvSpPr>
        <p:spPr>
          <a:xfrm>
            <a:off x="548640" y="3289096"/>
            <a:ext cx="3456432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BFF2869B-291D-9E2F-B4EE-E94DEC1EFD5F}"/>
              </a:ext>
            </a:extLst>
          </p:cNvPr>
          <p:cNvSpPr/>
          <p:nvPr/>
        </p:nvSpPr>
        <p:spPr>
          <a:xfrm>
            <a:off x="6892020" y="3205810"/>
            <a:ext cx="3456432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CC2A73EA-A80D-E210-39A1-DFCE15D8610A}"/>
              </a:ext>
            </a:extLst>
          </p:cNvPr>
          <p:cNvSpPr/>
          <p:nvPr/>
        </p:nvSpPr>
        <p:spPr>
          <a:xfrm>
            <a:off x="6892020" y="1530248"/>
            <a:ext cx="3456432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5DC7C8-52FE-F5D8-E5CF-584E0F16833D}"/>
              </a:ext>
            </a:extLst>
          </p:cNvPr>
          <p:cNvSpPr txBox="1"/>
          <p:nvPr/>
        </p:nvSpPr>
        <p:spPr>
          <a:xfrm>
            <a:off x="722376" y="1691104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Precision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C65A76-C556-56E3-A7CC-9288CB699685}"/>
              </a:ext>
            </a:extLst>
          </p:cNvPr>
          <p:cNvSpPr txBox="1"/>
          <p:nvPr/>
        </p:nvSpPr>
        <p:spPr>
          <a:xfrm>
            <a:off x="722376" y="2048826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>
            <a:defPPr>
              <a:defRPr lang="en-US"/>
            </a:defPPr>
            <a:lvl1pPr>
              <a:defRPr sz="1600" b="1" i="1">
                <a:solidFill>
                  <a:srgbClr val="0D1B30"/>
                </a:solidFill>
                <a:latin typeface="Aptos Narrow" panose="020B0004020202020204" pitchFamily="34" charset="0"/>
              </a:defRPr>
            </a:lvl1pPr>
          </a:lstStyle>
          <a:p>
            <a:r>
              <a:rPr dirty="0"/>
              <a:t>TP / (TP + FP)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5D1E2C-6103-31C4-BD7E-87CE55948A08}"/>
              </a:ext>
            </a:extLst>
          </p:cNvPr>
          <p:cNvSpPr txBox="1"/>
          <p:nvPr/>
        </p:nvSpPr>
        <p:spPr>
          <a:xfrm>
            <a:off x="722376" y="2368914"/>
            <a:ext cx="3053506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>
            <a:defPPr>
              <a:defRPr lang="en-US"/>
            </a:defPPr>
            <a:lvl1pPr>
              <a:defRPr sz="1600" b="1" i="1">
                <a:solidFill>
                  <a:srgbClr val="0D1B30"/>
                </a:solidFill>
                <a:latin typeface="Aptos Narrow" panose="020B0004020202020204" pitchFamily="34" charset="0"/>
              </a:defRPr>
            </a:lvl1pPr>
          </a:lstStyle>
          <a:p>
            <a:r>
              <a:rPr dirty="0"/>
              <a:t>Of</a:t>
            </a:r>
            <a:r>
              <a:rPr lang="en-IN" dirty="0"/>
              <a:t> </a:t>
            </a:r>
            <a:r>
              <a:rPr dirty="0"/>
              <a:t> alerts, how many are fraud?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494A7F-EE9C-0E95-40A3-D30296FCFCA1}"/>
              </a:ext>
            </a:extLst>
          </p:cNvPr>
          <p:cNvSpPr txBox="1"/>
          <p:nvPr/>
        </p:nvSpPr>
        <p:spPr>
          <a:xfrm>
            <a:off x="6975396" y="1673341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IN" sz="16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Recall/sensitivity</a:t>
            </a:r>
            <a:endParaRPr sz="1600" b="1" i="1" dirty="0">
              <a:solidFill>
                <a:srgbClr val="0D1B30"/>
              </a:solidFill>
              <a:latin typeface="Aptos Narrow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06ECE3-068D-BC07-DF1A-EFBD412D88D7}"/>
              </a:ext>
            </a:extLst>
          </p:cNvPr>
          <p:cNvSpPr txBox="1"/>
          <p:nvPr/>
        </p:nvSpPr>
        <p:spPr>
          <a:xfrm>
            <a:off x="6975396" y="2011192"/>
            <a:ext cx="31089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>
            <a:defPPr>
              <a:defRPr lang="en-US"/>
            </a:defPPr>
            <a:lvl1pPr>
              <a:defRPr sz="1600" b="1" i="1">
                <a:solidFill>
                  <a:srgbClr val="0D1B30"/>
                </a:solidFill>
                <a:latin typeface="Aptos Narrow" panose="020B0004020202020204" pitchFamily="34" charset="0"/>
              </a:defRPr>
            </a:lvl1pPr>
          </a:lstStyle>
          <a:p>
            <a:r>
              <a:rPr dirty="0"/>
              <a:t>TP / (TP + FN)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102D3C-55DE-89F2-3E8B-9EBD9EA49422}"/>
              </a:ext>
            </a:extLst>
          </p:cNvPr>
          <p:cNvSpPr txBox="1"/>
          <p:nvPr/>
        </p:nvSpPr>
        <p:spPr>
          <a:xfrm>
            <a:off x="6975396" y="2368914"/>
            <a:ext cx="309067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What share of fraud was caught?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F6F185-1B56-EB29-9631-3F57FE3DD8F3}"/>
              </a:ext>
            </a:extLst>
          </p:cNvPr>
          <p:cNvSpPr txBox="1"/>
          <p:nvPr/>
        </p:nvSpPr>
        <p:spPr>
          <a:xfrm>
            <a:off x="694649" y="3429000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F1-score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13169C-6E49-F18C-0C81-B43EFEEAD32F}"/>
              </a:ext>
            </a:extLst>
          </p:cNvPr>
          <p:cNvSpPr txBox="1"/>
          <p:nvPr/>
        </p:nvSpPr>
        <p:spPr>
          <a:xfrm>
            <a:off x="666922" y="3760976"/>
            <a:ext cx="31089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>
            <a:defPPr>
              <a:defRPr lang="en-US"/>
            </a:defPPr>
            <a:lvl1pPr>
              <a:defRPr sz="1600" b="1" i="1">
                <a:solidFill>
                  <a:srgbClr val="0D1B30"/>
                </a:solidFill>
                <a:latin typeface="Aptos Narrow" panose="020B0004020202020204" pitchFamily="34" charset="0"/>
              </a:defRPr>
            </a:lvl1pPr>
          </a:lstStyle>
          <a:p>
            <a:r>
              <a:rPr dirty="0"/>
              <a:t>2PR / (P + R)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F09FB2-DB43-B77B-9C55-5BA4D97FA5C0}"/>
              </a:ext>
            </a:extLst>
          </p:cNvPr>
          <p:cNvSpPr txBox="1"/>
          <p:nvPr/>
        </p:nvSpPr>
        <p:spPr>
          <a:xfrm>
            <a:off x="666922" y="4021235"/>
            <a:ext cx="3090672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Harmonic mean of precision and recall.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7C0DA7-A641-3F40-51FC-110CABF77F5C}"/>
              </a:ext>
            </a:extLst>
          </p:cNvPr>
          <p:cNvSpPr txBox="1"/>
          <p:nvPr/>
        </p:nvSpPr>
        <p:spPr>
          <a:xfrm>
            <a:off x="6957108" y="3342000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IN" sz="16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Accuracy</a:t>
            </a:r>
            <a:endParaRPr sz="1600" b="1" i="1" dirty="0">
              <a:solidFill>
                <a:srgbClr val="0D1B30"/>
              </a:solidFill>
              <a:latin typeface="Aptos Narrow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BDAD4C2-D088-EC4E-3A2D-0339830F6440}"/>
              </a:ext>
            </a:extLst>
          </p:cNvPr>
          <p:cNvSpPr txBox="1"/>
          <p:nvPr/>
        </p:nvSpPr>
        <p:spPr>
          <a:xfrm>
            <a:off x="6957108" y="3662346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IN" sz="16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TP+TN / (TP+TN+FP+FN)</a:t>
            </a:r>
            <a:endParaRPr sz="1600" b="1" i="1" dirty="0">
              <a:solidFill>
                <a:srgbClr val="0D1B30"/>
              </a:solidFill>
              <a:latin typeface="Aptos Narrow" panose="020B00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10CF2A-D789-88BE-4F9E-E991B4553B29}"/>
              </a:ext>
            </a:extLst>
          </p:cNvPr>
          <p:cNvSpPr txBox="1"/>
          <p:nvPr/>
        </p:nvSpPr>
        <p:spPr>
          <a:xfrm>
            <a:off x="6957108" y="4012915"/>
            <a:ext cx="309067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IN" sz="16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Model overall accuracy.</a:t>
            </a:r>
            <a:endParaRPr sz="1600" b="1" i="1" dirty="0">
              <a:solidFill>
                <a:srgbClr val="0D1B30"/>
              </a:solidFill>
              <a:latin typeface="Aptos Narrow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97BCC0-3433-91D9-34C8-88AFF0ECB4D8}"/>
              </a:ext>
            </a:extLst>
          </p:cNvPr>
          <p:cNvSpPr txBox="1"/>
          <p:nvPr/>
        </p:nvSpPr>
        <p:spPr>
          <a:xfrm>
            <a:off x="648634" y="5166896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IN" sz="16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FPN</a:t>
            </a:r>
            <a:endParaRPr sz="1600" b="1" i="1" dirty="0">
              <a:solidFill>
                <a:srgbClr val="0D1B30"/>
              </a:solidFill>
              <a:latin typeface="Aptos Narrow" panose="020B00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EFA94FE-4E7A-571B-9941-DD6419D442FE}"/>
              </a:ext>
            </a:extLst>
          </p:cNvPr>
          <p:cNvSpPr txBox="1"/>
          <p:nvPr/>
        </p:nvSpPr>
        <p:spPr>
          <a:xfrm>
            <a:off x="657778" y="5486984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FP / (FP + TN)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6F4B94A-68BD-36A6-1C59-C7B6CCFEC9E0}"/>
              </a:ext>
            </a:extLst>
          </p:cNvPr>
          <p:cNvSpPr txBox="1"/>
          <p:nvPr/>
        </p:nvSpPr>
        <p:spPr>
          <a:xfrm>
            <a:off x="648634" y="5765918"/>
            <a:ext cx="3090672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Legitimate transactions incorrectly flagged.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06E6475-9589-F886-D525-4A37052ED801}"/>
              </a:ext>
            </a:extLst>
          </p:cNvPr>
          <p:cNvSpPr txBox="1"/>
          <p:nvPr/>
        </p:nvSpPr>
        <p:spPr>
          <a:xfrm>
            <a:off x="6975396" y="5166896"/>
            <a:ext cx="31089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>
            <a:defPPr>
              <a:defRPr lang="en-US"/>
            </a:defPPr>
            <a:lvl1pPr>
              <a:defRPr sz="1600" b="1" i="1">
                <a:solidFill>
                  <a:srgbClr val="0D1B30"/>
                </a:solidFill>
                <a:latin typeface="Aptos Narrow" panose="020B0004020202020204" pitchFamily="34" charset="0"/>
              </a:defRPr>
            </a:lvl1pPr>
          </a:lstStyle>
          <a:p>
            <a:r>
              <a:rPr dirty="0"/>
              <a:t>FNR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D06231-D5C0-1E6F-20F1-E119D0C590DA}"/>
              </a:ext>
            </a:extLst>
          </p:cNvPr>
          <p:cNvSpPr txBox="1"/>
          <p:nvPr/>
        </p:nvSpPr>
        <p:spPr>
          <a:xfrm>
            <a:off x="6947964" y="5468064"/>
            <a:ext cx="31089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F</a:t>
            </a:r>
            <a:r>
              <a:rPr lang="en-IN" sz="16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N</a:t>
            </a:r>
            <a:r>
              <a:rPr sz="16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 / (F</a:t>
            </a:r>
            <a:r>
              <a:rPr lang="en-IN" sz="16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N</a:t>
            </a:r>
            <a:r>
              <a:rPr sz="16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 + T</a:t>
            </a:r>
            <a:r>
              <a:rPr lang="en-IN" sz="16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P</a:t>
            </a:r>
            <a:r>
              <a:rPr sz="16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E2C86DC-50CD-B147-3CA1-6C943EF01F73}"/>
              </a:ext>
            </a:extLst>
          </p:cNvPr>
          <p:cNvSpPr txBox="1"/>
          <p:nvPr/>
        </p:nvSpPr>
        <p:spPr>
          <a:xfrm>
            <a:off x="6966252" y="5825264"/>
            <a:ext cx="309067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1" dirty="0">
                <a:solidFill>
                  <a:srgbClr val="0D1B30"/>
                </a:solidFill>
                <a:latin typeface="Aptos Narrow" panose="020B0004020202020204" pitchFamily="34" charset="0"/>
              </a:rPr>
              <a:t>Fraudulent transactions missed.</a:t>
            </a:r>
          </a:p>
        </p:txBody>
      </p:sp>
    </p:spTree>
    <p:extLst>
      <p:ext uri="{BB962C8B-B14F-4D97-AF65-F5344CB8AC3E}">
        <p14:creationId xmlns:p14="http://schemas.microsoft.com/office/powerpoint/2010/main" val="4178084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93D8FE-3770-1FBC-2873-ED3703D78045}"/>
              </a:ext>
            </a:extLst>
          </p:cNvPr>
          <p:cNvSpPr txBox="1"/>
          <p:nvPr/>
        </p:nvSpPr>
        <p:spPr>
          <a:xfrm>
            <a:off x="247282" y="370283"/>
            <a:ext cx="11064240" cy="87408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endParaRPr lang="en-IN" sz="2600" b="1" dirty="0">
              <a:solidFill>
                <a:srgbClr val="0D1B30"/>
              </a:solidFill>
              <a:latin typeface="Aptos"/>
            </a:endParaRPr>
          </a:p>
          <a:p>
            <a:pPr algn="l"/>
            <a:endParaRPr sz="2600" b="1" i="0" dirty="0">
              <a:solidFill>
                <a:srgbClr val="0D1B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D26CCD-4FEF-5F83-C70D-236B9C39E4A3}"/>
              </a:ext>
            </a:extLst>
          </p:cNvPr>
          <p:cNvSpPr txBox="1"/>
          <p:nvPr/>
        </p:nvSpPr>
        <p:spPr>
          <a:xfrm>
            <a:off x="58504" y="-66760"/>
            <a:ext cx="11064240" cy="87408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IN" sz="2600" b="1" dirty="0">
                <a:solidFill>
                  <a:srgbClr val="0D1B30"/>
                </a:solidFill>
                <a:latin typeface="Aptos"/>
              </a:rPr>
              <a:t>Logistic Regression Model</a:t>
            </a:r>
          </a:p>
          <a:p>
            <a:pPr algn="l"/>
            <a:endParaRPr sz="2600" b="1" i="0" dirty="0">
              <a:solidFill>
                <a:srgbClr val="0D1B30"/>
              </a:solidFill>
              <a:latin typeface="Apto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F68E65-7D57-92ED-BFC6-CE95D6160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3953"/>
            <a:ext cx="10903974" cy="43403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CA7803-6074-C078-A3F8-06A93A15EF8C}"/>
              </a:ext>
            </a:extLst>
          </p:cNvPr>
          <p:cNvSpPr txBox="1"/>
          <p:nvPr/>
        </p:nvSpPr>
        <p:spPr>
          <a:xfrm>
            <a:off x="0" y="4474977"/>
            <a:ext cx="6979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0D1B30"/>
                </a:solidFill>
                <a:latin typeface="Aptos"/>
              </a:rPr>
              <a:t>Why did you choose Logistic Regression as your baseline model</a:t>
            </a:r>
            <a:r>
              <a:rPr lang="en-IN" dirty="0"/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7CFE60-39E9-01CA-ED40-D5AED20BA2E8}"/>
              </a:ext>
            </a:extLst>
          </p:cNvPr>
          <p:cNvSpPr txBox="1"/>
          <p:nvPr/>
        </p:nvSpPr>
        <p:spPr>
          <a:xfrm rot="10800000" flipV="1">
            <a:off x="-1" y="4977979"/>
            <a:ext cx="1112274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Logistic Regression is a simple, computationally efficient, and interpretable classification algorithm. It estimates the probability of default, which is particularly useful in credit risk assessment.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I used it as a baseline to establish a benchmark performance against which I could evaluate more complex models, such as Random Forest and </a:t>
            </a:r>
            <a:r>
              <a:rPr lang="en-IN" sz="1400" b="1" i="1" dirty="0" err="1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XGBoost</a:t>
            </a:r>
            <a:r>
              <a:rPr lang="en-IN" sz="1400" b="1" i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. This allowed me to determine whether the additional complexity of ensemble models resulted in meaningful improvements in predictive performance.</a:t>
            </a:r>
          </a:p>
        </p:txBody>
      </p:sp>
    </p:spTree>
    <p:extLst>
      <p:ext uri="{BB962C8B-B14F-4D97-AF65-F5344CB8AC3E}">
        <p14:creationId xmlns:p14="http://schemas.microsoft.com/office/powerpoint/2010/main" val="4061146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71D55D-802F-311D-0BB2-D242FEEACAD9}"/>
              </a:ext>
            </a:extLst>
          </p:cNvPr>
          <p:cNvSpPr txBox="1"/>
          <p:nvPr/>
        </p:nvSpPr>
        <p:spPr>
          <a:xfrm>
            <a:off x="58504" y="-66760"/>
            <a:ext cx="11064240" cy="87408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IN" sz="2600" b="1" dirty="0">
                <a:solidFill>
                  <a:srgbClr val="0D1B30"/>
                </a:solidFill>
                <a:latin typeface="Aptos"/>
              </a:rPr>
              <a:t>Random Forest Model</a:t>
            </a:r>
          </a:p>
          <a:p>
            <a:pPr algn="l"/>
            <a:endParaRPr sz="2600" b="1" i="0" dirty="0">
              <a:solidFill>
                <a:srgbClr val="0D1B30"/>
              </a:solidFill>
              <a:latin typeface="Apto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347C94-D342-A1C2-21D2-DFA952608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097442" cy="556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31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1E5286-9EBF-78D3-911C-D9809CD1BDBD}"/>
              </a:ext>
            </a:extLst>
          </p:cNvPr>
          <p:cNvSpPr txBox="1"/>
          <p:nvPr/>
        </p:nvSpPr>
        <p:spPr>
          <a:xfrm>
            <a:off x="88000" y="110220"/>
            <a:ext cx="11064240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IN" b="1" dirty="0">
                <a:solidFill>
                  <a:srgbClr val="0D1B30"/>
                </a:solidFill>
                <a:latin typeface="Aptos"/>
              </a:rPr>
              <a:t>Hyperparameter tuning is the process of finding the best configuration of a machine learning model before or during training so that it performs well on unseen data. After applying hyperparameters to  RF model.</a:t>
            </a:r>
            <a:endParaRPr b="1" dirty="0">
              <a:solidFill>
                <a:srgbClr val="0D1B30"/>
              </a:solidFill>
              <a:latin typeface="Apto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278D58-B3C5-8338-9CA8-DA7977584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0542"/>
            <a:ext cx="12192000" cy="533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093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A4C9A3-1138-4E77-A549-3A627138FFF0}"/>
              </a:ext>
            </a:extLst>
          </p:cNvPr>
          <p:cNvSpPr txBox="1"/>
          <p:nvPr/>
        </p:nvSpPr>
        <p:spPr>
          <a:xfrm>
            <a:off x="58504" y="-66760"/>
            <a:ext cx="11064240" cy="87408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IN" sz="2600" b="1" dirty="0" err="1">
                <a:solidFill>
                  <a:srgbClr val="0D1B30"/>
                </a:solidFill>
                <a:latin typeface="Aptos"/>
              </a:rPr>
              <a:t>XGboost</a:t>
            </a:r>
            <a:r>
              <a:rPr lang="en-IN" sz="2600" b="1" dirty="0">
                <a:solidFill>
                  <a:srgbClr val="0D1B30"/>
                </a:solidFill>
                <a:latin typeface="Aptos"/>
              </a:rPr>
              <a:t> Model</a:t>
            </a:r>
          </a:p>
          <a:p>
            <a:pPr algn="l"/>
            <a:endParaRPr sz="2600" b="1" i="0" dirty="0">
              <a:solidFill>
                <a:srgbClr val="0D1B30"/>
              </a:solidFill>
              <a:latin typeface="Apto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3B38E8-5655-82F4-C357-2748F4A30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7" y="807325"/>
            <a:ext cx="12125923" cy="484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812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CEB001-E706-7D08-A360-4EBF8319588B}"/>
              </a:ext>
            </a:extLst>
          </p:cNvPr>
          <p:cNvSpPr txBox="1"/>
          <p:nvPr/>
        </p:nvSpPr>
        <p:spPr>
          <a:xfrm>
            <a:off x="0" y="0"/>
            <a:ext cx="112087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rgbClr val="0D1B30"/>
                </a:solidFill>
                <a:latin typeface="Aptos"/>
              </a:rPr>
              <a:t>An ROC curve is a graph used to evaluate a binary classification model by plotting: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rgbClr val="0D1B30"/>
                </a:solidFill>
                <a:latin typeface="Aptos"/>
              </a:rPr>
              <a:t>X-axis: False Positive Rate (FPR) — the proportion of actual non-defaulters incorrectly predicted as defaulters.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rgbClr val="0D1B30"/>
                </a:solidFill>
                <a:latin typeface="Aptos"/>
              </a:rPr>
              <a:t>Y-axis: True Positive Rate (TPR) — the proportion of actual defaulters correctly identified by the model. This is also called recall or sensitivity for the default class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D0E1E5-313F-0AAB-CFF6-10D52FBA4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41" y="954107"/>
            <a:ext cx="9228762" cy="534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501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C526FA-B8CB-4A9A-0235-3F115BD72562}"/>
              </a:ext>
            </a:extLst>
          </p:cNvPr>
          <p:cNvSpPr txBox="1"/>
          <p:nvPr/>
        </p:nvSpPr>
        <p:spPr>
          <a:xfrm>
            <a:off x="363795" y="1411716"/>
            <a:ext cx="1092363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D1B30"/>
                </a:solidFill>
                <a:latin typeface="Aptos"/>
              </a:rPr>
              <a:t>Comprehensive Risk Assessment: The project explored demographic, financial, employment, and </a:t>
            </a:r>
            <a:r>
              <a:rPr lang="en-IN" b="1" dirty="0" err="1">
                <a:solidFill>
                  <a:srgbClr val="0D1B30"/>
                </a:solidFill>
                <a:latin typeface="Aptos"/>
              </a:rPr>
              <a:t>behavioral</a:t>
            </a:r>
            <a:r>
              <a:rPr lang="en-IN" b="1" dirty="0">
                <a:solidFill>
                  <a:srgbClr val="0D1B30"/>
                </a:solidFill>
                <a:latin typeface="Aptos"/>
              </a:rPr>
              <a:t> variables to identify patterns associated with loan default.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D1B30"/>
                </a:solidFill>
                <a:latin typeface="Aptos"/>
              </a:rPr>
              <a:t>Data-Driven </a:t>
            </a:r>
            <a:r>
              <a:rPr lang="en-IN" b="1" dirty="0" err="1">
                <a:solidFill>
                  <a:srgbClr val="0D1B30"/>
                </a:solidFill>
                <a:latin typeface="Aptos"/>
              </a:rPr>
              <a:t>Modeling</a:t>
            </a:r>
            <a:r>
              <a:rPr lang="en-IN" b="1" dirty="0">
                <a:solidFill>
                  <a:srgbClr val="0D1B30"/>
                </a:solidFill>
                <a:latin typeface="Aptos"/>
              </a:rPr>
              <a:t>: Logistic Regression established a baseline, while Random Forest, hyperparameter-tuned Random Forest, and </a:t>
            </a:r>
            <a:r>
              <a:rPr lang="en-IN" b="1" dirty="0" err="1">
                <a:solidFill>
                  <a:srgbClr val="0D1B30"/>
                </a:solidFill>
                <a:latin typeface="Aptos"/>
              </a:rPr>
              <a:t>XGBoost</a:t>
            </a:r>
            <a:r>
              <a:rPr lang="en-IN" b="1" dirty="0">
                <a:solidFill>
                  <a:srgbClr val="0D1B30"/>
                </a:solidFill>
                <a:latin typeface="Aptos"/>
              </a:rPr>
              <a:t> enabled comparison of more complex classification approaches.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D1B30"/>
                </a:solidFill>
                <a:latin typeface="Aptos"/>
              </a:rPr>
              <a:t>Model Evaluation: Classification reports, confusion matrices, and ROC curves were used to evaluate predictive performance, including the ability to distinguish defaulters from non-defaulters.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D1B30"/>
                </a:solidFill>
                <a:latin typeface="Aptos"/>
              </a:rPr>
              <a:t>Improved Default Detection: The evaluated models demonstrated different trade-offs between precision and recall, highlighting the importance of identifying potential defaulters while minimizing incorrect risk classifications.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D1B30"/>
                </a:solidFill>
                <a:latin typeface="Aptos"/>
              </a:rPr>
              <a:t>Practical Application: The project provides a foundation for data-driven credit risk assessment, potentially helping lenders prioritize applications for further review and make more informed lending decisions.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D60DE-AC5B-3566-4460-191FCD90B4F1}"/>
              </a:ext>
            </a:extLst>
          </p:cNvPr>
          <p:cNvSpPr txBox="1"/>
          <p:nvPr/>
        </p:nvSpPr>
        <p:spPr>
          <a:xfrm>
            <a:off x="363795" y="41510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0D1B30"/>
                </a:solidFill>
                <a:latin typeface="Aptos"/>
              </a:rPr>
              <a:t>Conclusion — Credit Default Risk Prediction</a:t>
            </a:r>
          </a:p>
        </p:txBody>
      </p:sp>
    </p:spTree>
    <p:extLst>
      <p:ext uri="{BB962C8B-B14F-4D97-AF65-F5344CB8AC3E}">
        <p14:creationId xmlns:p14="http://schemas.microsoft.com/office/powerpoint/2010/main" val="364284574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Custom 34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EC7016"/>
    </a:accent1>
    <a:accent2>
      <a:srgbClr val="F8931D"/>
    </a:accent2>
    <a:accent3>
      <a:srgbClr val="CE8D3E"/>
    </a:accent3>
    <a:accent4>
      <a:srgbClr val="E64823"/>
    </a:accent4>
    <a:accent5>
      <a:srgbClr val="FFCA08"/>
    </a:accent5>
    <a:accent6>
      <a:srgbClr val="9C6A6A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</TotalTime>
  <Words>1441</Words>
  <Application>Microsoft Office PowerPoint</Application>
  <PresentationFormat>Widescreen</PresentationFormat>
  <Paragraphs>122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Narrow</vt:lpstr>
      <vt:lpstr>Arial</vt:lpstr>
      <vt:lpstr>Bookman Old Style</vt:lpstr>
      <vt:lpstr>Calibri</vt:lpstr>
      <vt:lpstr>Franklin Gothic Book</vt:lpstr>
      <vt:lpstr>Custom</vt:lpstr>
      <vt:lpstr>Credit Card Fraud
Detection </vt:lpstr>
      <vt:lpstr> The goal is not just to classify — it is to reduce decision risk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abhisek samal</dc:creator>
  <cp:lastModifiedBy>abhisek samal</cp:lastModifiedBy>
  <cp:revision>1</cp:revision>
  <dcterms:created xsi:type="dcterms:W3CDTF">2026-10-15T06:30:40Z</dcterms:created>
  <dcterms:modified xsi:type="dcterms:W3CDTF">2026-10-15T11:29:09Z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